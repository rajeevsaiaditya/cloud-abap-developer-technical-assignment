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SAP BTP &amp; ABAP Cloud</a:t>
            </a:r>
          </a:p>
          <a:p>
            <a:pPr>
              <a:defRPr sz="2100">
                <a:solidFill>
                  <a:srgbClr val="33B4D2"/>
                </a:solidFill>
              </a:defRPr>
            </a:pPr>
            <a:r>
              <a:t>Architecture • Clean Core • RAP • India Industry Landscape</a:t>
            </a:r>
          </a:p>
          <a:p>
            <a:pPr>
              <a:spcBef>
                <a:spcPts val="2000"/>
              </a:spcBef>
              <a:defRPr sz="1500">
                <a:solidFill>
                  <a:srgbClr val="D7E1EB"/>
                </a:solidFill>
              </a:defRPr>
            </a:pPr>
            <a:r>
              <a:t>Executive Technical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4069080"/>
            <a:ext cx="356616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Associate SAP BTP / Cloud ABAP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4800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1EB"/>
                </a:solidFill>
              </a:defRPr>
            </a:pPr>
            <a:r>
              <a:t>Gundepalli Rajeev Sai Aditya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The platform, development model, and application programming model work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691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SAP BTP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Platform foundation for application development, integration, data/analytics, automation and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1691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4533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ABAP Cloud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Cloud-ready ABAP development model using released APIs, restricted language rules and upgrade-stable extensibility.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39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20439"/>
            <a:ext cx="64008" cy="1691640"/>
          </a:xfrm>
          <a:prstGeom prst="rect">
            <a:avLst/>
          </a:prstGeom>
          <a:solidFill>
            <a:srgbClr val="33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4845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RAP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Transactional programming model for cloud-ready ABAP business objects, OData services and Fiori applications.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What is SAP BTP?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A broad enterprise platform; ABAP is one pro-code option inside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691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Application Development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Build pro-code and low-code applications, extensions and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1691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4533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Integration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Connect SAP and non-SAP systems, APIs, events and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39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20439"/>
            <a:ext cx="64008" cy="1691640"/>
          </a:xfrm>
          <a:prstGeom prst="rect">
            <a:avLst/>
          </a:prstGeom>
          <a:solidFill>
            <a:srgbClr val="33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4845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Data &amp; Analytics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HANA Cloud, data integration, analytics and business data products.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20439"/>
            <a:ext cx="51663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520439"/>
            <a:ext cx="64008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48456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Automation &amp; AI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Workflow/process automation and AI-enabled application capabilities.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What is ABAP Cloud?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SAP’s cloud-ready ABAP development model for applications, services and extensions.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746"/>
                </a:solidFill>
                <a:latin typeface="Aptos"/>
              </a:defRPr>
            </a:pPr>
            <a:r>
              <a:t>• Restricted, cloud-safe ABAP language version and released APIs only.</a:t>
            </a:r>
          </a:p>
          <a:p>
            <a:pPr>
              <a:spcAft>
                <a:spcPts val="1000"/>
              </a:spcAft>
              <a:defRPr sz="1600">
                <a:solidFill>
                  <a:srgbClr val="263746"/>
                </a:solidFill>
                <a:latin typeface="Aptos"/>
              </a:defRPr>
            </a:pPr>
            <a:r>
              <a:t>• CDS for domain/data modeling and embedded analytics; RAP for transactional business services.</a:t>
            </a:r>
          </a:p>
          <a:p>
            <a:pPr>
              <a:spcAft>
                <a:spcPts val="1000"/>
              </a:spcAft>
              <a:defRPr sz="1600">
                <a:solidFill>
                  <a:srgbClr val="263746"/>
                </a:solidFill>
                <a:latin typeface="Aptos"/>
              </a:defRPr>
            </a:pPr>
            <a:r>
              <a:t>• ADT/Eclipse is the development environment; SAP GUI is not supported in the BTP ABAP environment.</a:t>
            </a:r>
          </a:p>
          <a:p>
            <a:pPr>
              <a:spcAft>
                <a:spcPts val="1000"/>
              </a:spcAft>
              <a:defRPr sz="1600">
                <a:solidFill>
                  <a:srgbClr val="263746"/>
                </a:solidFill>
                <a:latin typeface="Aptos"/>
              </a:defRPr>
            </a:pPr>
            <a:r>
              <a:t>• Designed for lifecycle stability, clean-core extensibility and cloud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263746"/>
                </a:solidFill>
                <a:latin typeface="Aptos"/>
              </a:defRPr>
            </a:pPr>
            <a:r>
              <a:t>• Available in SAP BTP ABAP environment and in SAP S/4HANA Cloud ABAP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SAP BTP vs ABAP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They are complementary concepts—not competing products.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920240" cy="65836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325880"/>
            <a:ext cx="4480560" cy="65836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Enterprise technology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325880"/>
            <a:ext cx="4572000" cy="65836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Development model / language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39112"/>
            <a:ext cx="192024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Primary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039112"/>
            <a:ext cx="448056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Runs services, integration, data, apps &amp;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039112"/>
            <a:ext cx="45720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Builds cloud-ready ABAP apps/extensions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52344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Runtimes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752344"/>
            <a:ext cx="4480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Cloud Foundry, Kyma, ABAP and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752344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ABAP runtime, especially BTP ABAP Environment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65576"/>
            <a:ext cx="192024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Programming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465576"/>
            <a:ext cx="448056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Java/Node.js/other runtimes + low-code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465576"/>
            <a:ext cx="45720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Restricted ABAP + CDS + RAP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78808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4178808"/>
            <a:ext cx="4480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Integration Suite, destinations, APIs,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4178808"/>
            <a:ext cx="45720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Released APIs + service consumption/connectivity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92040"/>
            <a:ext cx="192024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Governance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892040"/>
            <a:ext cx="448056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Platform security, identity, lifecycle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4892040"/>
            <a:ext cx="4572000" cy="65836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0">
                <a:solidFill>
                  <a:srgbClr val="263746"/>
                </a:solidFill>
              </a:defRPr>
            </a:pPr>
            <a:r>
              <a:t>Clean-core and released-object discipline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ABAP Cloud is the development model used inside the BTP ABAP Environment.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2834640" cy="548640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SAP BTP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286000"/>
            <a:ext cx="3657600" cy="621792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BTP ABAP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246120"/>
            <a:ext cx="2926080" cy="56692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ABAP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4251960"/>
            <a:ext cx="1828800" cy="56692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4251960"/>
            <a:ext cx="1828800" cy="56692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51960"/>
            <a:ext cx="2011680" cy="56692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Released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4251960"/>
            <a:ext cx="1920240" cy="56692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ADT / Eclipse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5349240"/>
            <a:ext cx="4023360" cy="566928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Fiori / OData / 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Typical side-by-side ABAP Cloud extension around SAP S/4HANA.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1645920" cy="566928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Business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560320"/>
            <a:ext cx="1645920" cy="56692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Fiori /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560320"/>
            <a:ext cx="1645920" cy="56692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OData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60320"/>
            <a:ext cx="2011680" cy="56692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RAP Business Object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560320"/>
            <a:ext cx="1645920" cy="566928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ABAP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840480"/>
            <a:ext cx="1645920" cy="566928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754880"/>
            <a:ext cx="1645920" cy="566928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S/4HANA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754880"/>
            <a:ext cx="1645920" cy="56692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Released APIs / 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Clean Core Extensibility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Move custom capability out of the ERP core when side-by-side is the better 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74920" cy="33375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4008" cy="3337560"/>
          </a:xfrm>
          <a:prstGeom prst="rect">
            <a:avLst/>
          </a:prstGeom>
          <a:solidFill>
            <a:srgbClr val="BE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36776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Traditional / core-heavy customization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• Direct modifications and implicit dependencies</a:t>
            </a:r>
            <a:br/>
            <a:r>
              <a:t>• Upgrade and regression risk</a:t>
            </a:r>
            <a:br/>
            <a:r>
              <a:t>• Custom logic tightly coupled to ERP internals</a:t>
            </a:r>
            <a:br/>
            <a:r>
              <a:t>• Harder lifecycle separation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375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08760"/>
            <a:ext cx="64008" cy="3337560"/>
          </a:xfrm>
          <a:prstGeom prst="rect">
            <a:avLst/>
          </a:prstGeom>
          <a:solidFill>
            <a:srgbClr val="26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36776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Clean-core side-by-side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• BTP-hosted extension with independent lifecycle</a:t>
            </a:r>
            <a:br/>
            <a:r>
              <a:t>• Released APIs / events for integration</a:t>
            </a:r>
            <a:br/>
            <a:r>
              <a:t>• ABAP Cloud + RAP for pro-code business services</a:t>
            </a:r>
            <a:br/>
            <a:r>
              <a:t>• Core remains upgrade-stable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Practical Use Case: Supplier Quality Complaint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Manufacturing scenario: extend procurement/quality processes without modifying the S/4HANA 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417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Business trigger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Quality engineer raises a supplier complaint and needs approval, evidence, status tracking and KPI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4173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9616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Constraints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Do not modify standard S/4HANA objects. Reuse supplier/PO data through released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42900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64008" cy="1417320"/>
          </a:xfrm>
          <a:prstGeom prst="rect">
            <a:avLst/>
          </a:prstGeom>
          <a:solidFill>
            <a:srgbClr val="33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9616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Target outcome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Fiori experience with RAP workflow/state handling and extension data on BTP HANA.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Actors: quality engineer, procurement manager, supplier relationship owner.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Core data: supplier, purchase order, material and plant from S/4HANA.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Extension data: complaint ID, severity, root cause, evidence, owner, due date and approval status.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KPIs: open complaints, aging, high-severity cases, resolution time and supplier trends.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Use Case 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End-to-end flow from Fiori request to S/4HANA business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560320"/>
            <a:ext cx="1645920" cy="594360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Quality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560320"/>
            <a:ext cx="1645920" cy="59436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Fiori Elements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560320"/>
            <a:ext cx="1645920" cy="59436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60320"/>
            <a:ext cx="1828800" cy="594360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ABAP Cloud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560320"/>
            <a:ext cx="1645920" cy="594360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BTP HANA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709160"/>
            <a:ext cx="1920240" cy="59436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S/4HANA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4709160"/>
            <a:ext cx="2834640" cy="59436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Released OData / Service 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RAP Implementation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RAP separates data modeling, behavior, service exposure and UI consumption.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64008" cy="5669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62456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CDS Data Model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Root/child entities, associations and projections.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47672"/>
            <a:ext cx="64008" cy="5669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Behavior Definition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Create/update/delete, actions, validations and determinations.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60904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60904"/>
            <a:ext cx="64008" cy="5669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Behavior Implementation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Transactional business rules and validations.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4136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74136"/>
            <a:ext cx="64008" cy="5669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Service Definition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Expose the required projection/business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87368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87368"/>
            <a:ext cx="64008" cy="5669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Service Binding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Publish OData service for Fiori/consumers.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48463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00600"/>
            <a:ext cx="64008" cy="5669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28616"/>
            <a:ext cx="4526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Fiori Elements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Generate/compose UI around the OData contract.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371600"/>
            <a:ext cx="52120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371600"/>
            <a:ext cx="64008" cy="43891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499616"/>
            <a:ext cx="4892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Design checklist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• Prefer released SAP APIs and extension points</a:t>
            </a:r>
            <a:br/>
            <a:r>
              <a:t>• Keep domain rules inside the RAP business object</a:t>
            </a:r>
            <a:br/>
            <a:r>
              <a:t>• Validate authorization and business invariants</a:t>
            </a:r>
            <a:br/>
            <a:r>
              <a:t>• Use draft where staged editing is appropriate</a:t>
            </a:r>
            <a:br/>
            <a:r>
              <a:t>• Keep service contracts stable</a:t>
            </a:r>
            <a:br/>
            <a:r>
              <a:t>• Automate quality checks with ATC and 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End-to-End Business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Illustrative flow for the supplier complaint extension.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37160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371600"/>
            <a:ext cx="64008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9961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Create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Engineer creates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37160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74920" y="1371600"/>
            <a:ext cx="64008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49961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Enrich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Validate/read S/4HANA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37160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1371600"/>
            <a:ext cx="64008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9961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Persist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RAP saves extension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56616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356616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9417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Approve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Rules route case to approver.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56616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356616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369417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Resolve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Record root cause and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502920" cy="45720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56616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56616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3694176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Monitor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Fiori KPIs show trends/SLA.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Why This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Technical choice mapped directly to business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3063240" cy="61264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280160"/>
            <a:ext cx="3657600" cy="61264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280160"/>
            <a:ext cx="4251960" cy="612648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30632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Custom workflow without ERP modification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947672"/>
            <a:ext cx="365760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Side-by-side BTP 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947672"/>
            <a:ext cx="425196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Clean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15184"/>
            <a:ext cx="30632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Transactional business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615184"/>
            <a:ext cx="365760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RAP behavior + validations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615184"/>
            <a:ext cx="42519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Consistent state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82696"/>
            <a:ext cx="30632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S/4HANA data reuse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282696"/>
            <a:ext cx="365760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Released APIs +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282696"/>
            <a:ext cx="425196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Loose coupling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50208"/>
            <a:ext cx="30632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Fast UI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950208"/>
            <a:ext cx="365760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Fiori elements over OData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950208"/>
            <a:ext cx="42519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Lower UI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617720"/>
            <a:ext cx="306324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Independent lifecycle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617720"/>
            <a:ext cx="365760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BTP extension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617720"/>
            <a:ext cx="4251960" cy="612648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Safer upgrades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285231"/>
            <a:ext cx="306324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Auditability &amp; KPIs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285231"/>
            <a:ext cx="365760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Extension data +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285231"/>
            <a:ext cx="425196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63746"/>
                </a:solidFill>
              </a:defRPr>
            </a:pPr>
            <a:r>
              <a:t>Operational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Industrial Landscape: India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Integrity note: public sources do not substantiate five India-specific production deployments with ABAP Cloud explicitly named.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097280"/>
          </a:xfrm>
          <a:prstGeom prst="rect">
            <a:avLst/>
          </a:prstGeom>
          <a:solidFill>
            <a:srgbClr val="26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53895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ABAP Cloud explicitly confirmed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Innoval Digital Solutions Pvt. Ltd. (Mumbai) — SAP customer material explicitly lists SAP BTP, ABAP environment and reports 60% of ABAP programming language code migrated from SAP ERP to BTP ABAP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51663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64008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Schneider Electric India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SAP BTP side-by-side planning solution; public material does not explicitly identify ABAP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97480"/>
            <a:ext cx="51663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697480"/>
            <a:ext cx="64008" cy="13258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2549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Lufthansa Technik Services India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BTP for aircraft maintenance integration/automation; public story does not name ABAP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51663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97680"/>
            <a:ext cx="64008" cy="1325880"/>
          </a:xfrm>
          <a:prstGeom prst="rect">
            <a:avLst/>
          </a:prstGeom>
          <a:solidFill>
            <a:srgbClr val="33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2569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Deloitte India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BTP + BAS + SDI + HANA Cloud for migration automation; ABAP Cloud not stated.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97680"/>
            <a:ext cx="51663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297680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2569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Sony Pictures Networks India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BTP + Signavio for process transformation; ABAP Cloud not stated.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Industrial Landscape: What the Public Record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Research discipline: distinguish verified ABAP Cloud evidence from broader BTP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2011680" cy="713232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1051560" cy="713232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514600" cy="713232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BTP footprint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011680" cy="713232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ABAP Cloud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234440"/>
            <a:ext cx="3657600" cy="713232"/>
          </a:xfrm>
          <a:prstGeom prst="rect">
            <a:avLst/>
          </a:prstGeom>
          <a:solidFill>
            <a:srgbClr val="0C1E3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39112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Innoval Digital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039112"/>
            <a:ext cx="10515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Mumbai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39112"/>
            <a:ext cx="2514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BTP + ABAP 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039112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039112"/>
            <a:ext cx="3657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60% ABAP code migrated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4378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Schneider Electric India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843784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843784"/>
            <a:ext cx="2514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BTP side-by-side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843784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Not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843784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Transport demand planning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648456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Lufthansa Technik Services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3648456"/>
            <a:ext cx="10515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India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648456"/>
            <a:ext cx="2514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SAP BTP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648456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Not confirmed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648456"/>
            <a:ext cx="3657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Aircraft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45312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Deloitte India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4453128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India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453128"/>
            <a:ext cx="2514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BTP + BAS + SDI + HANA 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453128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Not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4453128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Migration automation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257800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Sony Pictures Networks India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5257800"/>
            <a:ext cx="105156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India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5257800"/>
            <a:ext cx="2514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BTP + Signavio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5257800"/>
            <a:ext cx="201168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Not confirmed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5257800"/>
            <a:ext cx="3657600" cy="713232"/>
          </a:xfrm>
          <a:prstGeom prst="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63746"/>
                </a:solidFill>
              </a:defRPr>
            </a:pPr>
            <a:r>
              <a:t>Process transformation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Industrial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Recurring patterns matter more than a customer-name list.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Clean core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Custom functionality moves to an independent extension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64008" cy="15087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9961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Integration-first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Released APIs, events and connectivity replace direct coupling.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371600"/>
            <a:ext cx="64008" cy="1508760"/>
          </a:xfrm>
          <a:prstGeom prst="rect">
            <a:avLst/>
          </a:prstGeom>
          <a:solidFill>
            <a:srgbClr val="33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9961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Process visibility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Fiori, analytics and workflow turn backend capabilities into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20440"/>
            <a:ext cx="64008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4845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Modernization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Legacy ABAP can move toward cloud-compliant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2044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520440"/>
            <a:ext cx="64008" cy="1508760"/>
          </a:xfrm>
          <a:prstGeom prst="rect">
            <a:avLst/>
          </a:prstGeom>
          <a:solidFill>
            <a:srgbClr val="26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4845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Independent lifecycle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Side-by-side workloads evolve separately from ERP releases.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520440"/>
            <a:ext cx="338328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520440"/>
            <a:ext cx="64008" cy="150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648456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Multi-system reach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BTP integrates SAP and non-SAP systems around processes.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Architecture Decision: ABAP Cloud / RAP vs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Choose based on language, domain fit, reuse and team strengths.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57800" cy="365760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3657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49377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Choose ABAP Cloud / RAP when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• Strong ABAP capability</a:t>
            </a:r>
            <a:br/>
            <a:r>
              <a:t>• Extension aligns closely to SAP business objects</a:t>
            </a:r>
            <a:br/>
            <a:r>
              <a:t>• RAP transactional semantics and ABAP reuse matter</a:t>
            </a:r>
            <a:br/>
            <a:r>
              <a:t>• Released SAP APIs are the integration contract</a:t>
            </a:r>
            <a:br/>
            <a:r>
              <a:t>• Clean-core side-by-side extension is the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3657600"/>
          </a:xfrm>
          <a:prstGeom prst="roundRect">
            <a:avLst/>
          </a:prstGeom>
          <a:solidFill>
            <a:srgbClr val="F2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64008" cy="3657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99616"/>
            <a:ext cx="49377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E34"/>
                </a:solidFill>
              </a:defRPr>
            </a:pPr>
            <a:r>
              <a:t>Consider CAP when</a:t>
            </a:r>
          </a:p>
          <a:p>
            <a:pPr>
              <a:spcBef>
                <a:spcPts val="600"/>
              </a:spcBef>
              <a:defRPr sz="1100">
                <a:solidFill>
                  <a:srgbClr val="263746"/>
                </a:solidFill>
              </a:defRPr>
            </a:pPr>
            <a:r>
              <a:t>• Cloud-native service is not ABAP-centric</a:t>
            </a:r>
            <a:br/>
            <a:r>
              <a:t>• Node.js / Java is the stronger stack</a:t>
            </a:r>
            <a:br/>
            <a:r>
              <a:t>• Domain is broader than SAP ERP transactions</a:t>
            </a:r>
            <a:br/>
            <a:r>
              <a:t>• Polyglot microservice patterns are needed</a:t>
            </a:r>
            <a:br/>
            <a:r>
              <a:t>• CAP-specific capabilities fit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The architecture is a disciplined way to extend SAP without compromising the digital 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057400" cy="658368"/>
          </a:xfrm>
          <a:prstGeom prst="roundRect">
            <a:avLst/>
          </a:prstGeom>
          <a:solidFill>
            <a:srgbClr val="0C1E34"/>
          </a:solidFill>
          <a:ln>
            <a:solidFill>
              <a:srgbClr val="0C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057400" cy="65836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ABAP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2057400" cy="658368"/>
          </a:xfrm>
          <a:prstGeom prst="roundRect">
            <a:avLst/>
          </a:prstGeom>
          <a:solidFill>
            <a:srgbClr val="33B4D2"/>
          </a:solidFill>
          <a:ln>
            <a:solidFill>
              <a:srgbClr val="33B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08760"/>
            <a:ext cx="2057400" cy="658368"/>
          </a:xfrm>
          <a:prstGeom prst="roundRect">
            <a:avLst/>
          </a:prstGeom>
          <a:solidFill>
            <a:srgbClr val="26875C"/>
          </a:solidFill>
          <a:ln>
            <a:solidFill>
              <a:srgbClr val="26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Clean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BTP provides platform services and side-by-side execution.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ABAP Cloud governs cloud-ready ABAP through released APIs and restricted language rules.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RAP provides the transactional model for modern ABAP business applications and services.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A well-designed extension keeps S/4HANA standard, integrates through supported contracts and has an independent lifecycle.</a:t>
            </a:r>
          </a:p>
          <a:p>
            <a:pPr>
              <a:spcAft>
                <a:spcPts val="1000"/>
              </a:spcAft>
              <a:defRPr sz="1400">
                <a:solidFill>
                  <a:srgbClr val="263746"/>
                </a:solidFill>
                <a:latin typeface="Aptos"/>
              </a:defRPr>
            </a:pPr>
            <a:r>
              <a:t>• For India, distinguish verified ABAP Cloud deployments from BTP cases where the public source does not name ABAP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1E34"/>
                </a:solidFill>
                <a:latin typeface="Aptos Display"/>
              </a:defRPr>
            </a:pPr>
            <a:r>
              <a:t>References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63746"/>
                </a:solidFill>
              </a:defRPr>
            </a:pPr>
            <a:r>
              <a:t>Primary SAP documentation and public customer material used for this 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0584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Help — ABAP Environment — help.sap.com/docs/sap-btp-abap-environment/abap-environment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BTP Developer Guide — Developing with ABAP Cloud — help.sap.com/docs/btp/btp-developers-guide/abap-cloud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Help — BTP ABAP Environment with ABAP Cloud — help.sap.com/docs/btp/btp-developers-guide/sap-btp-abap-environment-with-abap-cloud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Help — Integrating ABAP Environment with S/4HANA Cloud — help.sap.com/docs/sap-btp-abap-environment/abap-environment/integrating-abap-environment-with-sap-s-4hana-cloud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Learning — Managing ABAP Environments — learning.sap.com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Customer Document — Innoval Digital Solutions — sap.com/documents/2024/01/c659155a-a67e-0010-bca6-c68f7e60039b.html</a:t>
            </a:r>
          </a:p>
          <a:p>
            <a:pPr>
              <a:spcAft>
                <a:spcPts val="1000"/>
              </a:spcAft>
              <a:defRPr sz="1050">
                <a:solidFill>
                  <a:srgbClr val="263746"/>
                </a:solidFill>
                <a:latin typeface="Aptos"/>
              </a:defRPr>
            </a:pPr>
            <a:r>
              <a:t>• SAP Developer Center — ABAP Cloud tutorials — developers.sap.com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3C3C"/>
                </a:solidFill>
              </a:defRPr>
            </a:pPr>
            <a:r>
              <a:t>Evidence note: customer cases are presented only at the level supported by public sources; no unverified ABAP Cloud deployment is claimed.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38291"/>
                </a:solidFill>
              </a:defRPr>
            </a:pPr>
            <a:r>
              <a:t>SAP BTP &amp; ABAP Cloud | Gundepalli Rajeev Sai Aditya |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